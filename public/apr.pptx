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571500"/>
            <a:ext cx="5286375" cy="5715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34591"/>
            <a:ext cx="952500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363241"/>
            <a:ext cx="5350668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b="0" sz="4200" i="0" u="none">
                <a:solidFill>
                  <a:srgbClr val="0F172A"/>
                </a:solidFill>
                <a:latin typeface="Inter ExtraBold"/>
              </a:rPr>
              <a:t>Educação Digital e Computação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738413"/>
            <a:ext cx="2730341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b="0" sz="2400" i="0" u="none">
                <a:solidFill>
                  <a:srgbClr val="0284C7"/>
                </a:solidFill>
                <a:latin typeface="Inter SemiBold"/>
              </a:rPr>
              <a:t>Programação 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4650" y="1095523"/>
            <a:ext cx="4730591" cy="31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b="1" sz="1950" i="0" u="none">
                <a:solidFill>
                  <a:srgbClr val="1E293B"/>
                </a:solidFill>
                <a:latin typeface="Inter"/>
              </a:rPr>
              <a:t>O que será trabalhado</a:t>
            </a:r>
          </a:p>
        </p:txBody>
      </p:sp>
      <p:sp>
        <p:nvSpPr>
          <p:cNvPr id="7" name="Rectangle 6"/>
          <p:cNvSpPr/>
          <p:nvPr/>
        </p:nvSpPr>
        <p:spPr>
          <a:xfrm>
            <a:off x="6724650" y="1487834"/>
            <a:ext cx="4505325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4650" y="1649759"/>
            <a:ext cx="450532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Segurança e privacidade: criação de senhas fortes e identificação de páginas falsas.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4650" y="2554634"/>
            <a:ext cx="4730591" cy="251370"/>
          </a:xfrm>
          <a:prstGeom prst="rect">
            <a:avLst/>
          </a:prstGeom>
          <a:noFill/>
        </p:spPr>
        <p:txBody>
          <a:bodyPr wrap="square" lIns="34290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1E293B"/>
                </a:solidFill>
                <a:latin typeface="Inter"/>
              </a:rPr>
              <a:t>Habilidades Desenvolvidas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24650" y="4310955"/>
            <a:ext cx="4730591" cy="251370"/>
          </a:xfrm>
          <a:prstGeom prst="rect">
            <a:avLst/>
          </a:prstGeom>
          <a:noFill/>
        </p:spPr>
        <p:txBody>
          <a:bodyPr wrap="square" lIns="285750" rIns="0" tIns="0" bIns="0" anchor="t">
            <a:spAutoFit/>
          </a:bodyPr>
          <a:lstStyle/>
          <a:p>
            <a:pPr algn="l">
              <a:lnSpc>
                <a:spcPts val="1979"/>
              </a:lnSpc>
            </a:pPr>
            <a:r>
              <a:rPr b="1" sz="1650" i="0" u="none">
                <a:solidFill>
                  <a:srgbClr val="1E293B"/>
                </a:solidFill>
                <a:latin typeface="Inter"/>
              </a:rPr>
              <a:t>Objetivos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4680346"/>
            <a:ext cx="314325" cy="247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33500" y="4647009"/>
            <a:ext cx="26003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1" sz="1650" i="0" u="none">
                <a:solidFill>
                  <a:srgbClr val="1E293B"/>
                </a:solidFill>
                <a:latin typeface="Inter"/>
              </a:rPr>
              <a:t>Prof. Lucas Mercer Leniar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4650" y="2573684"/>
            <a:ext cx="266700" cy="2095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72300" y="2948880"/>
            <a:ext cx="42576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EF08CO08: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Distinguir os tipos de dados pessoais que são solicitados em espaços digitais e os riscos associados.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2300" y="3520380"/>
            <a:ext cx="42576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EF08CO10: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Discutir questões sobre segurança e privacidade relacionadas ao uso dos ambientes virtuais.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4650" y="4330005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24650" y="4924276"/>
            <a:ext cx="450532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Identificar senhas mais seguras e sinais de phishing.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4650" y="5533876"/>
            <a:ext cx="4505325" cy="295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Justificar escolhas e adotar atitudes digitais preventivas.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4650" y="4924276"/>
            <a:ext cx="76051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24650" y="5533876"/>
            <a:ext cx="70991" cy="762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2986980"/>
            <a:ext cx="133350" cy="1524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4650" y="355848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571500"/>
            <a:ext cx="4419600" cy="6553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1597818"/>
            <a:ext cx="6160770" cy="45005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087"/>
              </a:lnSpc>
            </a:pPr>
            <a:r>
              <a:rPr b="0" sz="6750" i="0" u="none">
                <a:solidFill>
                  <a:srgbClr val="1E293B"/>
                </a:solidFill>
                <a:latin typeface="Inter ExtraBold"/>
              </a:rPr>
              <a:t>Segurança e Privacidade Digital:</a:t>
            </a:r>
            <a:r>
              <a:t>
</a:t>
            </a:r>
            <a:r>
              <a:rPr b="0" sz="6750" i="0" u="none">
                <a:solidFill>
                  <a:srgbClr val="334155"/>
                </a:solidFill>
                <a:latin typeface="Inter ExtraBold"/>
              </a:rPr>
              <a:t>Não caia nessa rede!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2900" y="180975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48700" y="1238250"/>
            <a:ext cx="22098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2100" i="0" u="none">
                <a:solidFill>
                  <a:srgbClr val="334155"/>
                </a:solidFill>
                <a:latin typeface="Inter"/>
              </a:rPr>
              <a:t>Identificar páginas falsas e golpes (phishing)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2900" y="3819525"/>
            <a:ext cx="40005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91550" y="3648075"/>
            <a:ext cx="226695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2100" i="0" u="none">
                <a:solidFill>
                  <a:srgbClr val="334155"/>
                </a:solidFill>
                <a:latin typeface="Inter"/>
              </a:rPr>
              <a:t>Criar senhas inquebráveis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62900" y="5629275"/>
            <a:ext cx="45720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48700" y="5257800"/>
            <a:ext cx="2209800" cy="1200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50"/>
              </a:lnSpc>
            </a:pPr>
            <a:r>
              <a:rPr b="1" sz="2100" i="0" u="none">
                <a:solidFill>
                  <a:srgbClr val="334155"/>
                </a:solidFill>
                <a:latin typeface="Inter"/>
              </a:rPr>
              <a:t>Proteger seus dados preventivamente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150" y="381000"/>
            <a:ext cx="2609850" cy="428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4330898"/>
            <a:ext cx="1714500" cy="171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337" y="1047750"/>
            <a:ext cx="2981325" cy="4762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5375" y="812452"/>
            <a:ext cx="10001250" cy="2194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b="0" sz="4800" i="0" u="none">
                <a:solidFill>
                  <a:srgbClr val="0F172A"/>
                </a:solidFill>
                <a:latin typeface="Inter ExtraBold"/>
              </a:rPr>
              <a:t>Quais sinais indicam que uma mensagem ou página não é confiável?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45048"/>
            <a:ext cx="110490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b="0" sz="2700" i="0" u="none">
                <a:solidFill>
                  <a:srgbClr val="475569"/>
                </a:solidFill>
                <a:latin typeface="Inter"/>
              </a:rPr>
              <a:t>Anote 2 indícios no seu caderno.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7750" y="381000"/>
            <a:ext cx="3143250" cy="4286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666750"/>
            <a:ext cx="3238500" cy="5524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9275"/>
            <a:ext cx="5143500" cy="7524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905125"/>
            <a:ext cx="5143500" cy="7524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3990975"/>
            <a:ext cx="5143500" cy="10477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3100" y="2133600"/>
            <a:ext cx="2590800" cy="3198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81225" y="2788890"/>
            <a:ext cx="2114550" cy="1733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334155"/>
                </a:solidFill>
                <a:latin typeface="Inter"/>
              </a:rPr>
              <a:t>Sua conta do Banco foi invadida. Clique aqui imediatamente e para não ser bloqueado: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81225" y="2381250"/>
            <a:ext cx="228600" cy="228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81225" y="2788890"/>
            <a:ext cx="1095375" cy="3524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81225" y="3912840"/>
            <a:ext cx="1838325" cy="3524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81225" y="4617690"/>
            <a:ext cx="2114550" cy="4762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2667000" y="800100"/>
            <a:ext cx="1143000" cy="2381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571500"/>
            <a:ext cx="5334000" cy="573777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571500"/>
            <a:ext cx="5334000" cy="57377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819" y="2314575"/>
            <a:ext cx="3459360" cy="5810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8819" y="3086100"/>
            <a:ext cx="3459360" cy="581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8819" y="3857625"/>
            <a:ext cx="3459360" cy="581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07572" y="2990850"/>
            <a:ext cx="3891855" cy="6762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62262" y="1076325"/>
            <a:ext cx="752475" cy="857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78392" y="4914900"/>
            <a:ext cx="1720215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3150" i="0" u="none">
                <a:solidFill>
                  <a:srgbClr val="0F172A"/>
                </a:solidFill>
                <a:latin typeface="Inter ExtraBold"/>
              </a:rPr>
              <a:t>FRACAS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6937" y="5490120"/>
            <a:ext cx="21431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EF4444"/>
                </a:solidFill>
                <a:latin typeface="Inter SemiBold"/>
              </a:rPr>
              <a:t>(Fáceis de adivinhar)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7262" y="1466850"/>
            <a:ext cx="752475" cy="857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58413" y="4524375"/>
            <a:ext cx="1390173" cy="479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b="0" sz="3150" i="0" u="none">
                <a:solidFill>
                  <a:srgbClr val="0F172A"/>
                </a:solidFill>
                <a:latin typeface="Inter ExtraBold"/>
              </a:rPr>
              <a:t>FORTE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3237" y="5099595"/>
            <a:ext cx="4200525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sz="1650" i="0" u="none">
                <a:solidFill>
                  <a:srgbClr val="22C55E"/>
                </a:solidFill>
                <a:latin typeface="Inter SemiBold"/>
              </a:rPr>
              <a:t>(Letras, números, símbolos, longa, única)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52500" y="1028700"/>
            <a:ext cx="10287000" cy="4800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52500" y="1028700"/>
          <a:ext cx="1026795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5133975"/>
                <a:gridCol w="5133975"/>
              </a:tblGrid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b="1" sz="2700" i="0" u="none">
                          <a:solidFill>
                            <a:srgbClr val="FFFFFF"/>
                          </a:solidFill>
                          <a:latin typeface="Inter"/>
                        </a:rPr>
                        <a:t> Sinais de Alerta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2700" i="0" u="none">
                          <a:solidFill>
                            <a:srgbClr val="FFFFFF"/>
                          </a:solidFill>
                          <a:latin typeface="Inter"/>
                        </a:rPr>
                        <a:t> Ações Seguras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2C55E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Link desconhecido / Urgência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Verificar endereço oficial</a:t>
                      </a:r>
                      <a:r>
                        <a:t>
</a:t>
                      </a:r>
                      <a:r>
                        <a:rPr b="1" sz="1950" i="0" u="none">
                          <a:solidFill>
                            <a:srgbClr val="475569"/>
                          </a:solidFill>
                          <a:latin typeface="Inter"/>
                        </a:rPr>
                        <a:t>(Não clicar!)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Solicitação de dados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Usar canais oficiais</a:t>
                      </a:r>
                      <a:r>
                        <a:t>
</a:t>
                      </a:r>
                      <a:r>
                        <a:rPr b="1" sz="1950" i="0" u="none">
                          <a:solidFill>
                            <a:srgbClr val="475569"/>
                          </a:solidFill>
                          <a:latin typeface="Inter"/>
                        </a:rPr>
                        <a:t>(App/Site oficial)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1200150">
                <a:tc>
                  <a:txBody>
                    <a:bodyPr/>
                    <a:lstStyle/>
                    <a:p>
                      <a:pPr algn="ctr"/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Risco de invasão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Senha forte/única +</a:t>
                      </a:r>
                      <a:r>
                        <a:t>
</a:t>
                      </a:r>
                      <a:r>
                        <a:rPr b="1" sz="1950" i="0" u="none">
                          <a:solidFill>
                            <a:srgbClr val="1E293B"/>
                          </a:solidFill>
                          <a:latin typeface="Inter"/>
                        </a:rPr>
                        <a:t>
        Autenticação em 2 fatores (2FA)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962025" y="3286125"/>
            <a:ext cx="5133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86475" y="2028825"/>
            <a:ext cx="9525" cy="1266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0" y="3286125"/>
            <a:ext cx="5133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2025" y="4552950"/>
            <a:ext cx="5133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86475" y="3295650"/>
            <a:ext cx="9525" cy="12668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0" y="4552950"/>
            <a:ext cx="5133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6475" y="4562475"/>
            <a:ext cx="9525" cy="12573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362075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4225" y="1362075"/>
            <a:ext cx="304800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5" y="571500"/>
            <a:ext cx="5286375" cy="5798641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71500"/>
            <a:ext cx="5286375" cy="5208091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850" y="704850"/>
            <a:ext cx="5019675" cy="4381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738437" y="5779591"/>
            <a:ext cx="952500" cy="4762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166937" y="6255841"/>
            <a:ext cx="2095500" cy="114300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92089" y="1537245"/>
            <a:ext cx="3570446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0" sz="4500" i="0" u="none">
                <a:solidFill>
                  <a:srgbClr val="1E293B"/>
                </a:solidFill>
                <a:latin typeface="Inter ExtraBold"/>
              </a:rPr>
              <a:t>Missão 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2275" y="2604045"/>
            <a:ext cx="4410075" cy="1981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900"/>
              </a:lnSpc>
            </a:pPr>
            <a:r>
              <a:rPr b="1" sz="3000" i="0" u="none">
                <a:solidFill>
                  <a:srgbClr val="334155"/>
                </a:solidFill>
                <a:latin typeface="Inter"/>
              </a:rPr>
              <a:t>Identifique 3 riscos nesta tela.</a:t>
            </a:r>
            <a:r>
              <a:t>
</a:t>
            </a:r>
            <a:r>
              <a:rPr b="1" sz="3000" i="0" u="none">
                <a:solidFill>
                  <a:srgbClr val="334155"/>
                </a:solidFill>
                <a:latin typeface="Inter"/>
              </a:rPr>
              <a:t> Qual a sua atitude imediata?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96225" y="5061495"/>
            <a:ext cx="21621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1" u="none">
                <a:solidFill>
                  <a:srgbClr val="64748B"/>
                </a:solidFill>
                <a:latin typeface="Inter"/>
              </a:rPr>
              <a:t>(Registro Individual)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5350" y="8477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23950" y="8477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52550" y="8477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5850" y="1524000"/>
            <a:ext cx="4257675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To: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5850" y="1943100"/>
            <a:ext cx="42576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5850" y="2238375"/>
            <a:ext cx="4470558" cy="66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5220"/>
              </a:lnSpc>
            </a:pPr>
            <a:r>
              <a:rPr b="0" sz="4350" i="0" u="none">
                <a:solidFill>
                  <a:srgbClr val="EF4444"/>
                </a:solidFill>
                <a:latin typeface="Inter ExtraBold"/>
              </a:rPr>
              <a:t>PARABÉNS!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5850" y="3091755"/>
            <a:ext cx="42576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Você foi sorteado e ganhou um </a:t>
            </a:r>
            <a:r>
              <a:rPr b="1" sz="1800" i="0" u="none">
                <a:solidFill>
                  <a:srgbClr val="1E293B"/>
                </a:solidFill>
                <a:latin typeface="Inter"/>
              </a:rPr>
              <a:t>iPhone 15</a:t>
            </a:r>
            <a:r>
              <a:rPr b="0" sz="1800" i="0" u="none">
                <a:solidFill>
                  <a:srgbClr val="1E293B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5850" y="3968055"/>
            <a:ext cx="4257675" cy="71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0" sz="1800" i="0" u="none">
                <a:solidFill>
                  <a:srgbClr val="1E293B"/>
                </a:solidFill>
                <a:latin typeface="Inter"/>
              </a:rPr>
              <a:t>Envie seu e senha do e-mail para validar o prêmio: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0650" y="1524000"/>
            <a:ext cx="2000250" cy="2762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0750" y="3968055"/>
            <a:ext cx="638175" cy="39618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850" y="4874716"/>
            <a:ext cx="3409950" cy="3905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24475"/>
            <a:ext cx="12192000" cy="15335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462" y="2019300"/>
            <a:ext cx="523875" cy="5238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7462" y="3019425"/>
            <a:ext cx="523875" cy="523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7462" y="4019550"/>
            <a:ext cx="523875" cy="5238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0" y="762000"/>
            <a:ext cx="1219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b="0" sz="4500" i="0" u="none">
                <a:solidFill>
                  <a:srgbClr val="1E293B"/>
                </a:solidFill>
                <a:latin typeface="Inter ExtraBold"/>
              </a:rPr>
              <a:t>Checklist de Sobrevivência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715000"/>
            <a:ext cx="952500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463879" y="5619750"/>
            <a:ext cx="613076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b="0" sz="3000" i="0" u="none">
                <a:solidFill>
                  <a:srgbClr val="1E293B"/>
                </a:solidFill>
                <a:latin typeface="Inter ExtraBold"/>
              </a:rPr>
              <a:t>Tarefa de Casa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9850" y="6172200"/>
            <a:ext cx="583882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b="0" sz="2100" i="0" u="none">
                <a:solidFill>
                  <a:srgbClr val="334155"/>
                </a:solidFill>
                <a:latin typeface="Inter"/>
              </a:rPr>
              <a:t>Quiz de Segurança na Plataforma WayGround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6537" y="5715000"/>
            <a:ext cx="3619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534525" y="6286500"/>
            <a:ext cx="20859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(Versão impressa disponível)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462" y="2052637"/>
            <a:ext cx="63150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2400" i="0" u="none">
                <a:solidFill>
                  <a:srgbClr val="334155"/>
                </a:solidFill>
                <a:latin typeface="Inter"/>
              </a:rPr>
              <a:t>Desconfie</a:t>
            </a:r>
            <a:r>
              <a:rPr b="0" sz="2400" i="0" u="none">
                <a:solidFill>
                  <a:srgbClr val="334155"/>
                </a:solidFill>
                <a:latin typeface="Inter"/>
              </a:rPr>
              <a:t> da urgência e promessas irreais.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462" y="305276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0" sz="2400" i="0" u="none">
                <a:solidFill>
                  <a:srgbClr val="334155"/>
                </a:solidFill>
                <a:latin typeface="Inter"/>
              </a:rPr>
              <a:t>Cheque o </a:t>
            </a:r>
            <a:r>
              <a:rPr b="1" sz="2400" i="0" u="none">
                <a:solidFill>
                  <a:srgbClr val="334155"/>
                </a:solidFill>
                <a:latin typeface="Inter"/>
              </a:rPr>
              <a:t>remetente oficial</a:t>
            </a:r>
            <a:r>
              <a:rPr b="0" sz="24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9462" y="4052887"/>
            <a:ext cx="374332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0" sz="2400" i="0" u="none">
                <a:solidFill>
                  <a:srgbClr val="334155"/>
                </a:solidFill>
                <a:latin typeface="Inter"/>
              </a:rPr>
              <a:t>Use </a:t>
            </a:r>
            <a:r>
              <a:rPr b="1" sz="2400" i="0" u="none">
                <a:solidFill>
                  <a:srgbClr val="334155"/>
                </a:solidFill>
                <a:latin typeface="Inter"/>
              </a:rPr>
              <a:t>senhas fortes + 2FA</a:t>
            </a:r>
            <a:r>
              <a:rPr b="0" sz="240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